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5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1371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Portafolio de
Ingeniería de Requisitos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63240"/>
            <a:ext cx="100584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900" b="0">
                <a:solidFill>
                  <a:srgbClr val="D2DEED"/>
                </a:solidFill>
                <a:latin typeface="Aptos"/>
              </a:rPr>
              <a:t>Gestión de artefactos  •  Metadatos  •  Trazabilidad  •  Validación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Universidad Pontificia Bolivariana  |  Curso Ingeniería de Requisitos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5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1F32"/>
                </a:solidFill>
                <a:latin typeface="Aptos Display"/>
              </a:rPr>
              <a:t>1. Contexto y propósito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02336"/>
            <a:ext cx="1508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97687"/>
                </a:solidFill>
              </a:rPr>
              <a:t>CONTEXTO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80160"/>
            <a:ext cx="530352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80160"/>
            <a:ext cx="64008" cy="1828800"/>
          </a:xfrm>
          <a:prstGeom prst="rect">
            <a:avLst/>
          </a:prstGeom>
          <a:solidFill>
            <a:srgbClr val="2B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435607"/>
            <a:ext cx="49194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1F32"/>
                </a:solidFill>
                <a:latin typeface="Aptos"/>
              </a:rPr>
              <a:t>Propósito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1920239"/>
            <a:ext cx="4919472" cy="10607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62F3C"/>
                </a:solidFill>
                <a:latin typeface="Aptos"/>
              </a:rPr>
              <a:t>Consolidar los artefactos del curso en un repositorio único, organizado y trazable.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30352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64008" cy="1828800"/>
          </a:xfrm>
          <a:prstGeom prst="rect">
            <a:avLst/>
          </a:prstGeom>
          <a:solidFill>
            <a:srgbClr val="35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435607"/>
            <a:ext cx="49194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1F32"/>
                </a:solidFill>
                <a:latin typeface="Aptos"/>
              </a:rPr>
              <a:t>¿Qué se demuestra?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1920239"/>
            <a:ext cx="4919472" cy="10607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62F3C"/>
                </a:solidFill>
                <a:latin typeface="Aptos"/>
              </a:rPr>
              <a:t>Cómo se identifican, relacionan, controlan y validan los requisitos y sus artefactos.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10241280" cy="18288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62F3C"/>
                </a:solidFill>
                <a:latin typeface="Aptos"/>
              </a:defRPr>
            </a:pPr>
            <a:r>
              <a:t>• Repositorio navegable y estructurado.</a:t>
            </a:r>
          </a:p>
          <a:p>
            <a:pPr>
              <a:spcAft>
                <a:spcPts val="700"/>
              </a:spcAft>
              <a:defRPr sz="1700">
                <a:solidFill>
                  <a:srgbClr val="262F3C"/>
                </a:solidFill>
                <a:latin typeface="Aptos"/>
              </a:defRPr>
            </a:pPr>
            <a:r>
              <a:t>• Metadatos para identificar cada artefacto.</a:t>
            </a:r>
          </a:p>
          <a:p>
            <a:pPr>
              <a:spcAft>
                <a:spcPts val="700"/>
              </a:spcAft>
              <a:defRPr sz="1700">
                <a:solidFill>
                  <a:srgbClr val="262F3C"/>
                </a:solidFill>
                <a:latin typeface="Aptos"/>
              </a:defRPr>
            </a:pPr>
            <a:r>
              <a:t>• Trazabilidad del caso seleccionado.</a:t>
            </a:r>
          </a:p>
          <a:p>
            <a:pPr>
              <a:spcAft>
                <a:spcPts val="700"/>
              </a:spcAft>
              <a:defRPr sz="1700">
                <a:solidFill>
                  <a:srgbClr val="262F3C"/>
                </a:solidFill>
                <a:latin typeface="Aptos"/>
              </a:defRPr>
            </a:pPr>
            <a:r>
              <a:t>• GitHub para almacenamiento y control de versiones.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687"/>
                </a:solidFill>
              </a:rPr>
              <a:t>Ingeniería de Requisitos  •  Portafolio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5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1F32"/>
                </a:solidFill>
                <a:latin typeface="Aptos Display"/>
              </a:rPr>
              <a:t>2. Proyectos y artefactos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02336"/>
            <a:ext cx="1508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97687"/>
                </a:solidFill>
              </a:rPr>
              <a:t>PORTAFOLIO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2697480" cy="2057400"/>
          </a:xfrm>
          <a:prstGeom prst="round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64008" cy="2057400"/>
          </a:xfrm>
          <a:prstGeom prst="rect">
            <a:avLst/>
          </a:prstGeom>
          <a:solidFill>
            <a:srgbClr val="2B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389888"/>
            <a:ext cx="231343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1F32"/>
                </a:solidFill>
                <a:latin typeface="Aptos"/>
              </a:rPr>
              <a:t>Operaciones Aéreas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1874519"/>
            <a:ext cx="2313432" cy="1289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62F3C"/>
                </a:solidFill>
                <a:latin typeface="Aptos"/>
              </a:rPr>
              <a:t>• Product Vision Board
• Product Backlog
• Request for Change (RFC)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234440"/>
            <a:ext cx="2697480" cy="2057400"/>
          </a:xfrm>
          <a:prstGeom prst="round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234440"/>
            <a:ext cx="64008" cy="2057400"/>
          </a:xfrm>
          <a:prstGeom prst="rect">
            <a:avLst/>
          </a:prstGeom>
          <a:solidFill>
            <a:srgbClr val="35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94176" y="1389888"/>
            <a:ext cx="231343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1F32"/>
                </a:solidFill>
                <a:latin typeface="Aptos"/>
              </a:rPr>
              <a:t>Vehículo de conducción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176" y="1874519"/>
            <a:ext cx="2313432" cy="1289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62F3C"/>
                </a:solidFill>
                <a:latin typeface="Aptos"/>
              </a:rPr>
              <a:t>• SRS
• Casos de uso
• Modelos UML
• Casos de prueba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234440"/>
            <a:ext cx="2331720" cy="2057400"/>
          </a:xfrm>
          <a:prstGeom prst="round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234440"/>
            <a:ext cx="64008" cy="2057400"/>
          </a:xfrm>
          <a:prstGeom prst="rect">
            <a:avLst/>
          </a:prstGeom>
          <a:solidFill>
            <a:srgbClr val="DA8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74536" y="1389888"/>
            <a:ext cx="19476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1F32"/>
                </a:solidFill>
                <a:latin typeface="Aptos"/>
              </a:rPr>
              <a:t>Empresa de Mudanza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4536" y="1874519"/>
            <a:ext cx="1947672" cy="1289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62F3C"/>
                </a:solidFill>
                <a:latin typeface="Aptos"/>
              </a:rPr>
              <a:t>• Casos de uso
• Entidad-relación
• UML de clases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1234440"/>
            <a:ext cx="2697480" cy="2057400"/>
          </a:xfrm>
          <a:prstGeom prst="round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9680" y="1234440"/>
            <a:ext cx="64008" cy="2057400"/>
          </a:xfrm>
          <a:prstGeom prst="rect">
            <a:avLst/>
          </a:prstGeom>
          <a:solidFill>
            <a:srgbClr val="358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9136" y="1389888"/>
            <a:ext cx="231343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1F32"/>
                </a:solidFill>
                <a:latin typeface="Aptos"/>
              </a:rPr>
              <a:t>Dietas al Día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1874519"/>
            <a:ext cx="2313432" cy="1289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62F3C"/>
                </a:solidFill>
                <a:latin typeface="Aptos"/>
              </a:rPr>
              <a:t>• Épicas y requisitos
• Prototipo
• Código
• Matriz de trazabilidad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977639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41F32"/>
                </a:solidFill>
                <a:latin typeface="Aptos"/>
              </a:rPr>
              <a:t>La matriz de trazabilidad se desarrolló específicamente para Dietas al Día.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687"/>
                </a:solidFill>
              </a:rPr>
              <a:t>Ingeniería de Requisitos  •  Portafolio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5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1F32"/>
                </a:solidFill>
                <a:latin typeface="Aptos Display"/>
              </a:rPr>
              <a:t>3. Proceso de gestión de requisitos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02336"/>
            <a:ext cx="1508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97687"/>
                </a:solidFill>
              </a:rPr>
              <a:t>PROCESO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1991563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2B5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828800"/>
            <a:ext cx="1918411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141F32"/>
                </a:solidFill>
                <a:latin typeface="Aptos"/>
              </a:rPr>
              <a:t>Necesidad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13939" y="1920240"/>
            <a:ext cx="146303" cy="201168"/>
          </a:xfrm>
          <a:prstGeom prst="rightArrow">
            <a:avLst/>
          </a:prstGeom>
          <a:solidFill>
            <a:srgbClr val="35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96819" y="1691640"/>
            <a:ext cx="1991563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2B5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33395" y="1828800"/>
            <a:ext cx="1918411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141F32"/>
                </a:solidFill>
                <a:latin typeface="Aptos"/>
              </a:rPr>
              <a:t>Requisito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924958" y="1920240"/>
            <a:ext cx="146303" cy="201168"/>
          </a:xfrm>
          <a:prstGeom prst="rightArrow">
            <a:avLst/>
          </a:prstGeom>
          <a:solidFill>
            <a:srgbClr val="35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07838" y="1691640"/>
            <a:ext cx="1991563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2B5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4414" y="1828800"/>
            <a:ext cx="1918411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141F32"/>
                </a:solidFill>
                <a:latin typeface="Aptos"/>
              </a:rPr>
              <a:t>Criterios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135977" y="1920240"/>
            <a:ext cx="146303" cy="201168"/>
          </a:xfrm>
          <a:prstGeom prst="rightArrow">
            <a:avLst/>
          </a:prstGeom>
          <a:solidFill>
            <a:srgbClr val="35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8857" y="1691640"/>
            <a:ext cx="1991563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2B5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5433" y="1828800"/>
            <a:ext cx="1918411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141F32"/>
                </a:solidFill>
                <a:latin typeface="Aptos"/>
              </a:rPr>
              <a:t>Artefactos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346996" y="1920240"/>
            <a:ext cx="146303" cy="201168"/>
          </a:xfrm>
          <a:prstGeom prst="rightArrow">
            <a:avLst/>
          </a:prstGeom>
          <a:solidFill>
            <a:srgbClr val="35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29876" y="1691640"/>
            <a:ext cx="1991563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2B5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66452" y="1828800"/>
            <a:ext cx="1918411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141F32"/>
                </a:solidFill>
                <a:latin typeface="Aptos"/>
              </a:rPr>
              <a:t>Validación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063240"/>
            <a:ext cx="10241280" cy="21031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62F3C"/>
                </a:solidFill>
                <a:latin typeface="Aptos"/>
              </a:defRPr>
            </a:pPr>
            <a:r>
              <a:t>• Identificar necesidades y requisitos.</a:t>
            </a:r>
          </a:p>
          <a:p>
            <a:pPr>
              <a:spcAft>
                <a:spcPts val="700"/>
              </a:spcAft>
              <a:defRPr sz="1800">
                <a:solidFill>
                  <a:srgbClr val="262F3C"/>
                </a:solidFill>
                <a:latin typeface="Aptos"/>
              </a:defRPr>
            </a:pPr>
            <a:r>
              <a:t>• Documentar mediante modelos, especificaciones y prototipos.</a:t>
            </a:r>
          </a:p>
          <a:p>
            <a:pPr>
              <a:spcAft>
                <a:spcPts val="700"/>
              </a:spcAft>
              <a:defRPr sz="1800">
                <a:solidFill>
                  <a:srgbClr val="262F3C"/>
                </a:solidFill>
                <a:latin typeface="Aptos"/>
              </a:defRPr>
            </a:pPr>
            <a:r>
              <a:t>• Definir criterios verificables.</a:t>
            </a:r>
          </a:p>
          <a:p>
            <a:pPr>
              <a:spcAft>
                <a:spcPts val="700"/>
              </a:spcAft>
              <a:defRPr sz="1800">
                <a:solidFill>
                  <a:srgbClr val="262F3C"/>
                </a:solidFill>
                <a:latin typeface="Aptos"/>
              </a:defRPr>
            </a:pPr>
            <a:r>
              <a:t>• Controlar versiones y metadatos.</a:t>
            </a:r>
          </a:p>
          <a:p>
            <a:pPr>
              <a:spcAft>
                <a:spcPts val="700"/>
              </a:spcAft>
              <a:defRPr sz="1800">
                <a:solidFill>
                  <a:srgbClr val="262F3C"/>
                </a:solidFill>
                <a:latin typeface="Aptos"/>
              </a:defRPr>
            </a:pPr>
            <a:r>
              <a:t>• Relacionar evidencia mediante trazabilidad.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687"/>
                </a:solidFill>
              </a:rPr>
              <a:t>Ingeniería de Requisitos  •  Portafolio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5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1F32"/>
                </a:solidFill>
                <a:latin typeface="Aptos Display"/>
              </a:rPr>
              <a:t>4. Gestión de metadatos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02336"/>
            <a:ext cx="1508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97687"/>
                </a:solidFill>
              </a:rPr>
              <a:t>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42900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64008" cy="1572768"/>
          </a:xfrm>
          <a:prstGeom prst="rect">
            <a:avLst/>
          </a:prstGeom>
          <a:solidFill>
            <a:srgbClr val="2B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389888"/>
            <a:ext cx="304495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1F32"/>
                </a:solidFill>
                <a:latin typeface="Aptos"/>
              </a:rPr>
              <a:t>ID único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1874519"/>
            <a:ext cx="3044952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F3C"/>
                </a:solidFill>
                <a:latin typeface="Aptos"/>
              </a:rPr>
              <a:t>Identificación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234440"/>
            <a:ext cx="342900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234440"/>
            <a:ext cx="64008" cy="1572768"/>
          </a:xfrm>
          <a:prstGeom prst="rect">
            <a:avLst/>
          </a:prstGeom>
          <a:solidFill>
            <a:srgbClr val="35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0016" y="1389888"/>
            <a:ext cx="304495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1F32"/>
                </a:solidFill>
                <a:latin typeface="Aptos"/>
              </a:rPr>
              <a:t>Versión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1874519"/>
            <a:ext cx="3044952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F3C"/>
                </a:solidFill>
                <a:latin typeface="Aptos"/>
              </a:rPr>
              <a:t>Control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234440"/>
            <a:ext cx="342900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234440"/>
            <a:ext cx="64008" cy="1572768"/>
          </a:xfrm>
          <a:prstGeom prst="rect">
            <a:avLst/>
          </a:prstGeom>
          <a:solidFill>
            <a:srgbClr val="358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94776" y="1389888"/>
            <a:ext cx="304495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1F32"/>
                </a:solidFill>
                <a:latin typeface="Aptos"/>
              </a:rPr>
              <a:t>Estado final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4776" y="1874519"/>
            <a:ext cx="3044952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F3C"/>
                </a:solidFill>
                <a:latin typeface="Aptos"/>
              </a:rPr>
              <a:t>Situación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200400"/>
            <a:ext cx="342900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200400"/>
            <a:ext cx="64008" cy="1572768"/>
          </a:xfrm>
          <a:prstGeom prst="rect">
            <a:avLst/>
          </a:prstGeom>
          <a:solidFill>
            <a:srgbClr val="DA8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355848"/>
            <a:ext cx="304495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1F32"/>
                </a:solidFill>
                <a:latin typeface="Aptos"/>
              </a:rPr>
              <a:t>Autor / revisor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840480"/>
            <a:ext cx="3044952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F3C"/>
                </a:solidFill>
                <a:latin typeface="Aptos"/>
              </a:rPr>
              <a:t>Responsables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200400"/>
            <a:ext cx="342900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3200400"/>
            <a:ext cx="64008" cy="1572768"/>
          </a:xfrm>
          <a:prstGeom prst="rect">
            <a:avLst/>
          </a:prstGeom>
          <a:solidFill>
            <a:srgbClr val="2B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0016" y="3355848"/>
            <a:ext cx="304495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1F32"/>
                </a:solidFill>
                <a:latin typeface="Aptos"/>
              </a:rPr>
              <a:t>Fecha de cierre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0016" y="3840480"/>
            <a:ext cx="3044952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F3C"/>
                </a:solidFill>
                <a:latin typeface="Aptos"/>
              </a:rPr>
              <a:t>Finalización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3200400"/>
            <a:ext cx="342900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20" y="3200400"/>
            <a:ext cx="64008" cy="1572768"/>
          </a:xfrm>
          <a:prstGeom prst="rect">
            <a:avLst/>
          </a:prstGeom>
          <a:solidFill>
            <a:srgbClr val="35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94776" y="3355848"/>
            <a:ext cx="304495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1F32"/>
                </a:solidFill>
                <a:latin typeface="Aptos"/>
              </a:rPr>
              <a:t>Relacionados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94776" y="3840480"/>
            <a:ext cx="3044952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F3C"/>
                </a:solidFill>
                <a:latin typeface="Aptos"/>
              </a:rPr>
              <a:t>Vínculos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394960"/>
            <a:ext cx="102412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41F32"/>
                </a:solidFill>
                <a:latin typeface="Aptos"/>
              </a:rPr>
              <a:t>Los metadatos permiten conocer qué es cada artefacto, quién lo gestionó, en qué versión está y con qué otros elementos se relaciona.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687"/>
                </a:solidFill>
              </a:rPr>
              <a:t>Ingeniería de Requisitos  •  Portafolio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5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1F32"/>
                </a:solidFill>
                <a:latin typeface="Aptos Display"/>
              </a:rPr>
              <a:t>5. Caso de estudio: Dietas al Día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02336"/>
            <a:ext cx="1508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97687"/>
                </a:solidFill>
              </a:rPr>
              <a:t>TRAZABILIDAD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3794760" cy="3703320"/>
          </a:xfrm>
          <a:prstGeom prst="round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64008" cy="3703320"/>
          </a:xfrm>
          <a:prstGeom prst="rect">
            <a:avLst/>
          </a:prstGeom>
          <a:solidFill>
            <a:srgbClr val="358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344168"/>
            <a:ext cx="341071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1F32"/>
                </a:solidFill>
                <a:latin typeface="Aptos"/>
              </a:rPr>
              <a:t>EPC-28 — Asignación tratamiento nutricional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828800"/>
            <a:ext cx="3410712" cy="29352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F3C"/>
                </a:solidFill>
                <a:latin typeface="Aptos"/>
              </a:rPr>
              <a:t>El médico consulta dietas compatibles con el diagnóstico y recibe una alerta cuando una dieta contiene alimentos incompatibles con las alergias registradas del paciente.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188720"/>
            <a:ext cx="2971800" cy="3703320"/>
          </a:xfrm>
          <a:prstGeom prst="round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188720"/>
            <a:ext cx="64008" cy="3703320"/>
          </a:xfrm>
          <a:prstGeom prst="rect">
            <a:avLst/>
          </a:prstGeom>
          <a:solidFill>
            <a:srgbClr val="2B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28616" y="1344168"/>
            <a:ext cx="258775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1F32"/>
                </a:solidFill>
                <a:latin typeface="Aptos"/>
              </a:rPr>
              <a:t>Criterios de aceptación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28616" y="1828800"/>
            <a:ext cx="2587752" cy="29352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62F3C"/>
                </a:solidFill>
                <a:latin typeface="Aptos"/>
              </a:rPr>
              <a:t>CA1 — Mostrar dietas asociadas en un paso.
CA2 — Alertar incompatibilidades antes de confirmar.
CA3 — Consultar ficha técnica sin perder contexto.
CA4 — Seleccionar una dieta segura en &lt; 90 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188720"/>
            <a:ext cx="3611880" cy="3703320"/>
          </a:xfrm>
          <a:prstGeom prst="round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188720"/>
            <a:ext cx="64008" cy="3703320"/>
          </a:xfrm>
          <a:prstGeom prst="rect">
            <a:avLst/>
          </a:prstGeom>
          <a:solidFill>
            <a:srgbClr val="35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1344168"/>
            <a:ext cx="322783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1F32"/>
                </a:solidFill>
                <a:latin typeface="Aptos"/>
              </a:rPr>
              <a:t>Artefactos relacionados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1828800"/>
            <a:ext cx="3227832" cy="29352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62F3C"/>
                </a:solidFill>
                <a:latin typeface="Aptos"/>
              </a:rPr>
              <a:t>• Épicas y requisitos
• Prototipo de alta fidelidad
• Repositorio de código
• Matriz de trazabilidad
Estado: pendiente de validación formal.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687"/>
                </a:solidFill>
              </a:rPr>
              <a:t>Ingeniería de Requisitos  •  Portafolio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5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1F32"/>
                </a:solidFill>
                <a:latin typeface="Aptos Display"/>
              </a:rPr>
              <a:t>6. Matriz de trazabilidad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02336"/>
            <a:ext cx="1508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97687"/>
                </a:solidFill>
              </a:rPr>
              <a:t>EVIDENCIA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991563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2B5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554480"/>
            <a:ext cx="1918411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141F32"/>
                </a:solidFill>
                <a:latin typeface="Aptos"/>
              </a:rPr>
              <a:t>NEG-DIA-01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13939" y="1645920"/>
            <a:ext cx="146303" cy="201168"/>
          </a:xfrm>
          <a:prstGeom prst="rightArrow">
            <a:avLst/>
          </a:prstGeom>
          <a:solidFill>
            <a:srgbClr val="35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96819" y="1417320"/>
            <a:ext cx="1991563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2B5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33395" y="1554480"/>
            <a:ext cx="1918411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141F32"/>
                </a:solidFill>
                <a:latin typeface="Aptos"/>
              </a:rPr>
              <a:t>EPC-28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924958" y="1645920"/>
            <a:ext cx="146303" cy="201168"/>
          </a:xfrm>
          <a:prstGeom prst="rightArrow">
            <a:avLst/>
          </a:prstGeom>
          <a:solidFill>
            <a:srgbClr val="35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07838" y="1417320"/>
            <a:ext cx="1991563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2B5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4414" y="1554480"/>
            <a:ext cx="1918411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141F32"/>
                </a:solidFill>
                <a:latin typeface="Aptos"/>
              </a:rPr>
              <a:t>CA1–CA4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135977" y="1645920"/>
            <a:ext cx="146303" cy="201168"/>
          </a:xfrm>
          <a:prstGeom prst="rightArrow">
            <a:avLst/>
          </a:prstGeom>
          <a:solidFill>
            <a:srgbClr val="35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8857" y="1417320"/>
            <a:ext cx="1991563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2B5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5433" y="1554480"/>
            <a:ext cx="1918411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141F32"/>
                </a:solidFill>
                <a:latin typeface="Aptos"/>
              </a:rPr>
              <a:t>DIA-PROT-001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346996" y="1645920"/>
            <a:ext cx="146303" cy="201168"/>
          </a:xfrm>
          <a:prstGeom prst="rightArrow">
            <a:avLst/>
          </a:prstGeom>
          <a:solidFill>
            <a:srgbClr val="35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29876" y="1417320"/>
            <a:ext cx="1991563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2B5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66452" y="1554480"/>
            <a:ext cx="1918411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141F32"/>
                </a:solidFill>
                <a:latin typeface="Aptos"/>
              </a:rPr>
              <a:t>DIA-COD-001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651760"/>
            <a:ext cx="5257800" cy="2148840"/>
          </a:xfrm>
          <a:prstGeom prst="round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2651760"/>
            <a:ext cx="64008" cy="2148840"/>
          </a:xfrm>
          <a:prstGeom prst="rect">
            <a:avLst/>
          </a:prstGeom>
          <a:solidFill>
            <a:srgbClr val="2B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" y="2807208"/>
            <a:ext cx="487375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1F32"/>
                </a:solidFill>
                <a:latin typeface="Aptos"/>
              </a:rPr>
              <a:t>Trazabilidad documentada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3291839"/>
            <a:ext cx="4873752" cy="1380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F3C"/>
                </a:solidFill>
                <a:latin typeface="Aptos"/>
              </a:rPr>
              <a:t>La matriz relaciona la necesidad derivada, el EPC-28, sus criterios de aceptación, el prototipo y el repositorio de código.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651760"/>
            <a:ext cx="5257800" cy="2148840"/>
          </a:xfrm>
          <a:prstGeom prst="round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651760"/>
            <a:ext cx="64008" cy="2148840"/>
          </a:xfrm>
          <a:prstGeom prst="rect">
            <a:avLst/>
          </a:prstGeom>
          <a:solidFill>
            <a:srgbClr val="DA8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7376" y="2807208"/>
            <a:ext cx="487375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1F32"/>
                </a:solidFill>
                <a:latin typeface="Aptos"/>
              </a:rPr>
              <a:t>Brecha identificada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3291839"/>
            <a:ext cx="4873752" cy="1380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F3C"/>
                </a:solidFill>
                <a:latin typeface="Aptos"/>
              </a:rPr>
              <a:t>No se suministraron casos de prueba formales ni resultados de ejecución para EPC-28. Por eso, la matriz deja la validación como pendiente.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12080"/>
            <a:ext cx="102412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41F32"/>
                </a:solidFill>
                <a:latin typeface="Aptos"/>
              </a:rPr>
              <a:t>La ausencia de evidencia también forma parte de la trazabilidad.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687"/>
                </a:solidFill>
              </a:rPr>
              <a:t>Ingeniería de Requisitos  •  Portafolio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5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1F32"/>
                </a:solidFill>
                <a:latin typeface="Aptos Display"/>
              </a:rPr>
              <a:t>7. Control de cambios y repositorio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02336"/>
            <a:ext cx="1508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97687"/>
                </a:solidFill>
              </a:rPr>
              <a:t>GESTIÓN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80160"/>
            <a:ext cx="5257800" cy="2011680"/>
          </a:xfrm>
          <a:prstGeom prst="round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80160"/>
            <a:ext cx="64008" cy="2011680"/>
          </a:xfrm>
          <a:prstGeom prst="rect">
            <a:avLst/>
          </a:prstGeom>
          <a:solidFill>
            <a:srgbClr val="DA8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435607"/>
            <a:ext cx="487375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1F32"/>
                </a:solidFill>
                <a:latin typeface="Aptos"/>
              </a:rPr>
              <a:t>Request for Change (RFC)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1920239"/>
            <a:ext cx="4873752" cy="12435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F3C"/>
                </a:solidFill>
                <a:latin typeface="Aptos"/>
              </a:rPr>
              <a:t>Permite registrar requisito afectado, motivo, prioridad, impacto y artefactos que deben actualizarse.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57800" cy="2011680"/>
          </a:xfrm>
          <a:prstGeom prst="round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64008" cy="2011680"/>
          </a:xfrm>
          <a:prstGeom prst="rect">
            <a:avLst/>
          </a:prstGeom>
          <a:solidFill>
            <a:srgbClr val="2B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435607"/>
            <a:ext cx="487375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1F32"/>
                </a:solidFill>
                <a:latin typeface="Aptos"/>
              </a:rPr>
              <a:t>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1920239"/>
            <a:ext cx="4873752" cy="12435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F3C"/>
                </a:solidFill>
                <a:latin typeface="Aptos"/>
              </a:rPr>
              <a:t>Centraliza los artefactos, conserva versiones y facilita una estructura navegable.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49039"/>
            <a:ext cx="10241280" cy="1737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62F3C"/>
                </a:solidFill>
                <a:latin typeface="Aptos"/>
              </a:defRPr>
            </a:pPr>
            <a:r>
              <a:t>• No se crean RFC ni resultados de prueba que no estén respaldados por evidencia.</a:t>
            </a:r>
          </a:p>
          <a:p>
            <a:pPr>
              <a:spcAft>
                <a:spcPts val="700"/>
              </a:spcAft>
              <a:defRPr sz="1700">
                <a:solidFill>
                  <a:srgbClr val="262F3C"/>
                </a:solidFill>
                <a:latin typeface="Aptos"/>
              </a:defRPr>
            </a:pPr>
            <a:r>
              <a:t>• El README guía la navegación del repositorio.</a:t>
            </a:r>
          </a:p>
          <a:p>
            <a:pPr>
              <a:spcAft>
                <a:spcPts val="700"/>
              </a:spcAft>
              <a:defRPr sz="1700">
                <a:solidFill>
                  <a:srgbClr val="262F3C"/>
                </a:solidFill>
                <a:latin typeface="Aptos"/>
              </a:defRPr>
            </a:pPr>
            <a:r>
              <a:t>• La matriz concentra la trazabilidad del caso seleccionado.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687"/>
                </a:solidFill>
              </a:rPr>
              <a:t>Ingeniería de Requisitos  •  Portafolio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5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1F32"/>
                </a:solidFill>
                <a:latin typeface="Aptos Display"/>
              </a:rPr>
              <a:t>8. Validación: evidencia disponible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02336"/>
            <a:ext cx="1508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97687"/>
                </a:solidFill>
              </a:rPr>
              <a:t>VALIDACIÓN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257800" cy="2331720"/>
          </a:xfrm>
          <a:prstGeom prst="round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64008" cy="2331720"/>
          </a:xfrm>
          <a:prstGeom prst="rect">
            <a:avLst/>
          </a:prstGeom>
          <a:solidFill>
            <a:srgbClr val="358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389888"/>
            <a:ext cx="487375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1F32"/>
                </a:solidFill>
                <a:latin typeface="Aptos"/>
              </a:rPr>
              <a:t>Evidencia disponible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1874519"/>
            <a:ext cx="4873752" cy="1563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F3C"/>
                </a:solidFill>
                <a:latin typeface="Aptos"/>
              </a:rPr>
              <a:t>• EPC-28 y su descripción
• Criterios CA1–CA4
• Prototipo de alta fidelidad
• Relación con artefactos
• Estado pendiente de validación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257800" cy="2331720"/>
          </a:xfrm>
          <a:prstGeom prst="round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64008" cy="2331720"/>
          </a:xfrm>
          <a:prstGeom prst="rect">
            <a:avLst/>
          </a:prstGeom>
          <a:solidFill>
            <a:srgbClr val="BB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389888"/>
            <a:ext cx="487375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1F32"/>
                </a:solidFill>
                <a:latin typeface="Aptos"/>
              </a:rPr>
              <a:t>Evidencia no disponible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1874519"/>
            <a:ext cx="4873752" cy="1563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F3C"/>
                </a:solidFill>
                <a:latin typeface="Aptos"/>
              </a:rPr>
              <a:t>• Casos de prueba formales para EPC-28
• Resultados de ejecución
• Fecha de última prueba
No se presenta como verificado aquello que no tiene evidencia.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51960"/>
            <a:ext cx="1024128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41F32"/>
                </a:solidFill>
                <a:latin typeface="Aptos"/>
              </a:rPr>
              <a:t>Resultado: la matriz hace visible tanto la cobertura existente como la brecha de validación.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687"/>
                </a:solidFill>
              </a:rPr>
              <a:t>Ingeniería de Requisitos  •  Portafolio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5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1F32"/>
                </a:solidFill>
                <a:latin typeface="Aptos Display"/>
              </a:rPr>
              <a:t>9. Lecciones aprendidas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02336"/>
            <a:ext cx="1508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97687"/>
                </a:solidFill>
              </a:rPr>
              <a:t>CIERRE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657600" cy="4114800"/>
          </a:xfrm>
          <a:prstGeom prst="round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64008" cy="4114800"/>
          </a:xfrm>
          <a:prstGeom prst="rect">
            <a:avLst/>
          </a:prstGeom>
          <a:solidFill>
            <a:srgbClr val="2B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344168"/>
            <a:ext cx="327355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1F32"/>
                </a:solidFill>
                <a:latin typeface="Aptos"/>
              </a:rPr>
              <a:t>1. ¿Qué práctica funciona?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828800"/>
            <a:ext cx="3273552" cy="33467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F3C"/>
                </a:solidFill>
                <a:latin typeface="Aptos"/>
              </a:rPr>
              <a:t>Mantener IDs, metadatos y relaciones desde el inicio.
Esto facilita seguimiento, revisión y auditoría.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1188720"/>
            <a:ext cx="3657600" cy="4114800"/>
          </a:xfrm>
          <a:prstGeom prst="round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8" y="1188720"/>
            <a:ext cx="64008" cy="4114800"/>
          </a:xfrm>
          <a:prstGeom prst="rect">
            <a:avLst/>
          </a:prstGeom>
          <a:solidFill>
            <a:srgbClr val="DA8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9704" y="1344168"/>
            <a:ext cx="327355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1F32"/>
                </a:solidFill>
                <a:latin typeface="Aptos"/>
              </a:rPr>
              <a:t>2. ¿Qué técnica falló?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1828800"/>
            <a:ext cx="3273552" cy="33467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F3C"/>
                </a:solidFill>
                <a:latin typeface="Aptos"/>
              </a:rPr>
              <a:t>La trazabilidad hasta pruebas no pudo completarse cuando no existían casos de prueba formales.
Se detectó al construir la matriz y encontrar campos sin evidencia.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188720"/>
            <a:ext cx="3657600" cy="4114800"/>
          </a:xfrm>
          <a:prstGeom prst="round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91856" y="1188720"/>
            <a:ext cx="64008" cy="4114800"/>
          </a:xfrm>
          <a:prstGeom prst="rect">
            <a:avLst/>
          </a:prstGeom>
          <a:solidFill>
            <a:srgbClr val="358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344168"/>
            <a:ext cx="327355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1F32"/>
                </a:solidFill>
                <a:latin typeface="Aptos"/>
              </a:rPr>
              <a:t>3. ¿Qué haríamos diferente?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1828800"/>
            <a:ext cx="3273552" cy="33467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F3C"/>
                </a:solidFill>
                <a:latin typeface="Aptos"/>
              </a:rPr>
              <a:t>Definir desde el inicio:
• IDs y metadatos
• Criterios de aceptación
• Casos de prueba
• Responsables y fechas
Así la trazabilidad se construye continuamente.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687"/>
                </a:solidFill>
              </a:rPr>
              <a:t>Ingeniería de Requisitos  •  Portafolio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"/>
              </a:rPr>
              <a:t>Resultado del portafolio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423160"/>
            <a:ext cx="1991563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2B5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2560320"/>
            <a:ext cx="1918411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141F32"/>
                </a:solidFill>
                <a:latin typeface="Aptos"/>
              </a:rPr>
              <a:t>Artefactos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13939" y="2651760"/>
            <a:ext cx="146303" cy="201168"/>
          </a:xfrm>
          <a:prstGeom prst="rightArrow">
            <a:avLst/>
          </a:prstGeom>
          <a:solidFill>
            <a:srgbClr val="35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96819" y="2423160"/>
            <a:ext cx="1991563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2B5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33395" y="2560320"/>
            <a:ext cx="1918411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141F32"/>
                </a:solidFill>
                <a:latin typeface="Aptos"/>
              </a:rPr>
              <a:t>Metadatos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24958" y="2651760"/>
            <a:ext cx="146303" cy="201168"/>
          </a:xfrm>
          <a:prstGeom prst="rightArrow">
            <a:avLst/>
          </a:prstGeom>
          <a:solidFill>
            <a:srgbClr val="35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07838" y="2423160"/>
            <a:ext cx="1991563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2B5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4414" y="2560320"/>
            <a:ext cx="1918411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141F32"/>
                </a:solidFill>
                <a:latin typeface="Aptos"/>
              </a:rPr>
              <a:t>Trazabilidad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35977" y="2651760"/>
            <a:ext cx="146303" cy="201168"/>
          </a:xfrm>
          <a:prstGeom prst="rightArrow">
            <a:avLst/>
          </a:prstGeom>
          <a:solidFill>
            <a:srgbClr val="35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8857" y="2423160"/>
            <a:ext cx="1991563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2B5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55433" y="2560320"/>
            <a:ext cx="1918411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141F32"/>
                </a:solidFill>
                <a:latin typeface="Aptos"/>
              </a:rPr>
              <a:t>Repositorio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346996" y="2651760"/>
            <a:ext cx="146303" cy="201168"/>
          </a:xfrm>
          <a:prstGeom prst="rightArrow">
            <a:avLst/>
          </a:prstGeom>
          <a:solidFill>
            <a:srgbClr val="35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29876" y="2423160"/>
            <a:ext cx="1991563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2B5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66452" y="2560320"/>
            <a:ext cx="1918411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141F32"/>
                </a:solidFill>
                <a:latin typeface="Aptos"/>
              </a:rPr>
              <a:t>Aprendizajes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1024128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Aptos"/>
              </a:rPr>
              <a:t>Un repositorio organizado permite seguir la historia de un requisito,
identificar su evidencia y reconocer las brechas de validación.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6072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BECDDE"/>
                </a:solidFill>
                <a:latin typeface="Aptos"/>
              </a:rPr>
              <a:t>Portafolio de Ingeniería de Requisitos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